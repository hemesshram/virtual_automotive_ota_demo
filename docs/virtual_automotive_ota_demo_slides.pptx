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320040"/>
            <a:ext cx="11064240" cy="822960"/>
          </a:xfrm>
          <a:prstGeom prst="roundRect">
            <a:avLst/>
          </a:prstGeom>
          <a:solidFill>
            <a:srgbClr val="E8F0FB"/>
          </a:solidFill>
          <a:ln w="19050">
            <a:solidFill>
              <a:srgbClr val="94A3B8"/>
            </a:solidFill>
          </a:ln>
        </p:spPr>
        <p:txBody>
          <a:bodyPr wrap="square" lIns="91440" tIns="45720" rIns="91440" bIns="45720" anchor="t"/>
          <a:lstStyle/>
          <a:p>
            <a:pPr/>
            <a:r>
              <a:rPr lang="en-US" sz="2400" b="1">
                <a:solidFill>
                  <a:srgbClr val="0F172A"/>
                </a:solidFill>
              </a:rPr>
              <a:t>Virtual Automotive OTA Demo</a:t>
            </a:r>
            <a:endParaRPr lang="en-US" sz="2400"/>
          </a:p>
        </p:txBody>
      </p:sp>
      <p:sp>
        <p:nvSpPr>
          <p:cNvPr id="3" name="Subtitle"/>
          <p:cNvSpPr txBox="1"/>
          <p:nvPr/>
        </p:nvSpPr>
        <p:spPr>
          <a:xfrm>
            <a:off x="640080" y="1234440"/>
            <a:ext cx="1078992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txBody>
          <a:bodyPr wrap="square" lIns="91440" tIns="45720" rIns="91440" bIns="45720" anchor="t"/>
          <a:lstStyle/>
          <a:p>
            <a:pPr/>
            <a:r>
              <a:rPr lang="en-US" sz="1400">
                <a:solidFill>
                  <a:srgbClr val="334155"/>
                </a:solidFill>
              </a:rPr>
              <a:t>Production-style OTA orchestration with zonal vehicle model, DoIP, VCAN/CAN FD, UDS, ISO-TP, A/B flashing, Uptane-style trust, MQTT/HTTPS cloud control, and optional Mender trigger</a:t>
            </a:r>
            <a:endParaRPr lang="en-US" sz="1400"/>
          </a:p>
        </p:txBody>
      </p:sp>
      <p:sp>
        <p:nvSpPr>
          <p:cNvPr id="4" name="Overview"/>
          <p:cNvSpPr txBox="1"/>
          <p:nvPr/>
        </p:nvSpPr>
        <p:spPr>
          <a:xfrm>
            <a:off x="822960" y="1874519"/>
            <a:ext cx="10332720" cy="3383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txBody>
          <a:bodyPr wrap="square" lIns="91440" tIns="45720" rIns="91440" bIns="45720" anchor="t"/>
          <a:lstStyle/>
          <a:p>
            <a:pPr/>
            <a:r>
              <a:rPr lang="en-US" sz="1800" b="1">
                <a:solidFill>
                  <a:srgbClr val="0F172A"/>
                </a:solidFill>
              </a:rPr>
              <a:t>What this demo shows</a:t>
            </a:r>
            <a:endParaRPr lang="en-US" sz="1800"/>
          </a:p>
          <a:p>
            <a:pPr/>
            <a:r>
              <a:rPr lang="en-US" sz="1500">
                <a:solidFill>
                  <a:srgbClr val="1F1F1F"/>
                </a:solidFill>
              </a:rPr>
              <a:t>TCU acts as the in-vehicle OTA orchestrator.</a:t>
            </a:r>
            <a:endParaRPr lang="en-US" sz="1500"/>
          </a:p>
          <a:p>
            <a:pPr/>
            <a:r>
              <a:rPr lang="en-US" sz="1500">
                <a:solidFill>
                  <a:srgbClr val="1F1F1F"/>
                </a:solidFill>
              </a:rPr>
              <a:t>ECUs are updated through realistic transport layers: DoIP or VCAN/CAN FD + ISO-TP + UDS.</a:t>
            </a:r>
            <a:endParaRPr lang="en-US" sz="1500"/>
          </a:p>
          <a:p>
            <a:pPr/>
            <a:r>
              <a:rPr lang="en-US" sz="1500">
                <a:solidFill>
                  <a:srgbClr val="1F1F1F"/>
                </a:solidFill>
              </a:rPr>
              <a:t>Zones, dependency planning, ECU availability, partial rollout, A/B activation, and trust validation are all visible.</a:t>
            </a:r>
            <a:endParaRPr lang="en-US" sz="1500"/>
          </a:p>
          <a:p>
            <a:pPr/>
            <a:r>
              <a:rPr lang="en-US" sz="1500">
                <a:solidFill>
                  <a:srgbClr val="1F1F1F"/>
                </a:solidFill>
              </a:rPr>
              <a:t>The demo is production-style and runnable, but not a full AUTOSAR or hardware-flash implementation.</a:t>
            </a:r>
            <a:endParaRPr lang="en-US" sz="1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320040"/>
            <a:ext cx="11064240" cy="822960"/>
          </a:xfrm>
          <a:prstGeom prst="roundRect">
            <a:avLst/>
          </a:prstGeom>
          <a:solidFill>
            <a:srgbClr val="E8F0FB"/>
          </a:solidFill>
          <a:ln w="19050">
            <a:solidFill>
              <a:srgbClr val="94A3B8"/>
            </a:solidFill>
          </a:ln>
        </p:spPr>
        <p:txBody>
          <a:bodyPr wrap="square" lIns="91440" tIns="45720" rIns="91440" bIns="45720" anchor="t"/>
          <a:lstStyle/>
          <a:p>
            <a:pPr/>
            <a:r>
              <a:rPr lang="en-US" sz="2400" b="1">
                <a:solidFill>
                  <a:srgbClr val="0F172A"/>
                </a:solidFill>
              </a:rPr>
              <a:t>Demo Purpose</a:t>
            </a:r>
            <a:endParaRPr lang="en-US" sz="2400"/>
          </a:p>
        </p:txBody>
      </p:sp>
      <p:sp>
        <p:nvSpPr>
          <p:cNvPr id="4" name="Purpose"/>
          <p:cNvSpPr txBox="1"/>
          <p:nvPr/>
        </p:nvSpPr>
        <p:spPr>
          <a:xfrm>
            <a:off x="685800" y="1325880"/>
            <a:ext cx="539496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txBody>
          <a:bodyPr wrap="square" lIns="91440" tIns="45720" rIns="91440" bIns="45720" anchor="t"/>
          <a:lstStyle/>
          <a:p>
            <a:pPr/>
            <a:r>
              <a:rPr lang="en-US" sz="1800" b="1">
                <a:solidFill>
                  <a:srgbClr val="0F172A"/>
                </a:solidFill>
              </a:rPr>
              <a:t>Why we built it</a:t>
            </a:r>
            <a:endParaRPr lang="en-US" sz="1800"/>
          </a:p>
          <a:p>
            <a:pPr/>
            <a:r>
              <a:rPr lang="en-US" sz="1500">
                <a:solidFill>
                  <a:srgbClr val="1F1F1F"/>
                </a:solidFill>
              </a:rPr>
              <a:t>Show how an automotive OTA platform coordinates cloud, TCU, gateway, zones, and ECUs.</a:t>
            </a:r>
            <a:endParaRPr lang="en-US" sz="1500"/>
          </a:p>
          <a:p>
            <a:pPr/>
            <a:r>
              <a:rPr lang="en-US" sz="1500">
                <a:solidFill>
                  <a:srgbClr val="1F1F1F"/>
                </a:solidFill>
              </a:rPr>
              <a:t>Make protocol layers visible instead of hiding them behind vendor tools.</a:t>
            </a:r>
            <a:endParaRPr lang="en-US" sz="1500"/>
          </a:p>
          <a:p>
            <a:pPr/>
            <a:r>
              <a:rPr lang="en-US" sz="1500">
                <a:solidFill>
                  <a:srgbClr val="1F1F1F"/>
                </a:solidFill>
              </a:rPr>
              <a:t>Demonstrate skip, abort, partial rollout, and dependency-aware decisions from live vehicle state.</a:t>
            </a:r>
            <a:endParaRPr lang="en-US" sz="1500"/>
          </a:p>
        </p:txBody>
      </p:sp>
      <p:sp>
        <p:nvSpPr>
          <p:cNvPr id="5" name="Boundaries"/>
          <p:cNvSpPr txBox="1"/>
          <p:nvPr/>
        </p:nvSpPr>
        <p:spPr>
          <a:xfrm>
            <a:off x="6263640" y="1325880"/>
            <a:ext cx="4983480" cy="438912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FDBA74"/>
            </a:solidFill>
          </a:ln>
        </p:spPr>
        <p:txBody>
          <a:bodyPr wrap="square" lIns="91440" tIns="45720" rIns="91440" bIns="45720" anchor="t"/>
          <a:lstStyle/>
          <a:p>
            <a:pPr/>
            <a:r>
              <a:rPr lang="en-US" sz="1800" b="1">
                <a:solidFill>
                  <a:srgbClr val="7C2D12"/>
                </a:solidFill>
              </a:rPr>
              <a:t>What it is not</a:t>
            </a:r>
            <a:endParaRPr lang="en-US" sz="1800"/>
          </a:p>
          <a:p>
            <a:pPr/>
            <a:r>
              <a:rPr lang="en-US" sz="1500">
                <a:solidFill>
                  <a:srgbClr val="1F1F1F"/>
                </a:solidFill>
              </a:rPr>
              <a:t>Not full AUTOSAR DCM/FBL.</a:t>
            </a:r>
            <a:endParaRPr lang="en-US" sz="1500"/>
          </a:p>
          <a:p>
            <a:pPr/>
            <a:r>
              <a:rPr lang="en-US" sz="1500">
                <a:solidFill>
                  <a:srgbClr val="1F1F1F"/>
                </a:solidFill>
              </a:rPr>
              <a:t>Not real hardware flash driver integration.</a:t>
            </a:r>
            <a:endParaRPr lang="en-US" sz="1500"/>
          </a:p>
          <a:p>
            <a:pPr/>
            <a:r>
              <a:rPr lang="en-US" sz="1500">
                <a:solidFill>
                  <a:srgbClr val="1F1F1F"/>
                </a:solidFill>
              </a:rPr>
              <a:t>Not OEM production PKI or TSN/VLAN Ethernet.</a:t>
            </a:r>
            <a:endParaRPr lang="en-US" sz="1500"/>
          </a:p>
          <a:p>
            <a:pPr/>
            <a:r>
              <a:rPr lang="en-US" sz="1500">
                <a:solidFill>
                  <a:srgbClr val="1F1F1F"/>
                </a:solidFill>
              </a:rPr>
              <a:t>It is a realistic integration simulator for architecture, behavior, and demo execution.</a:t>
            </a:r>
            <a:endParaRPr lang="en-US" sz="1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320040"/>
            <a:ext cx="11064240" cy="822960"/>
          </a:xfrm>
          <a:prstGeom prst="roundRect">
            <a:avLst/>
          </a:prstGeom>
          <a:solidFill>
            <a:srgbClr val="E8F0FB"/>
          </a:solidFill>
          <a:ln w="19050">
            <a:solidFill>
              <a:srgbClr val="94A3B8"/>
            </a:solidFill>
          </a:ln>
        </p:spPr>
        <p:txBody>
          <a:bodyPr wrap="square" lIns="91440" tIns="45720" rIns="91440" bIns="45720" anchor="t"/>
          <a:lstStyle/>
          <a:p>
            <a:pPr/>
            <a:r>
              <a:rPr lang="en-US" sz="2400" b="1">
                <a:solidFill>
                  <a:srgbClr val="0F172A"/>
                </a:solidFill>
              </a:rPr>
              <a:t>Architecture Diagram</a:t>
            </a:r>
            <a:endParaRPr lang="en-US" sz="2400"/>
          </a:p>
        </p:txBody>
      </p:sp>
      <p:sp>
        <p:nvSpPr>
          <p:cNvPr id="4" name="Cloud"/>
          <p:cNvSpPr txBox="1"/>
          <p:nvPr/>
        </p:nvSpPr>
        <p:spPr>
          <a:xfrm>
            <a:off x="4434840" y="960120"/>
            <a:ext cx="3291840" cy="68580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60A5FA"/>
            </a:solidFill>
          </a:ln>
        </p:spPr>
        <p:txBody>
          <a:bodyPr wrap="square" lIns="91440" tIns="45720" rIns="91440" bIns="45720" anchor="t"/>
          <a:lstStyle/>
          <a:p>
            <a:pPr/>
            <a:r>
              <a:rPr lang="en-US" sz="1800" b="1">
                <a:solidFill>
                  <a:srgbClr val="0F172A"/>
                </a:solidFill>
              </a:rPr>
              <a:t>OTA Cloud Server</a:t>
            </a:r>
            <a:endParaRPr lang="en-US" sz="1800"/>
          </a:p>
          <a:p>
            <a:pPr/>
            <a:r>
              <a:rPr lang="en-US" sz="1200">
                <a:solidFill>
                  <a:srgbClr val="1F1F1F"/>
                </a:solidFill>
              </a:rPr>
              <a:t>HTTPS artifacts + MQTT notify/status</a:t>
            </a:r>
            <a:endParaRPr lang="en-US" sz="1200"/>
          </a:p>
        </p:txBody>
      </p:sp>
      <p:sp>
        <p:nvSpPr>
          <p:cNvPr id="5" name="TCU"/>
          <p:cNvSpPr txBox="1"/>
          <p:nvPr/>
        </p:nvSpPr>
        <p:spPr>
          <a:xfrm>
            <a:off x="3794760" y="1828800"/>
            <a:ext cx="4572000" cy="914400"/>
          </a:xfrm>
          <a:prstGeom prst="roundRect">
            <a:avLst/>
          </a:prstGeom>
          <a:solidFill>
            <a:srgbClr val="E0E7FF"/>
          </a:solidFill>
          <a:ln w="19050">
            <a:solidFill>
              <a:srgbClr val="818CF8"/>
            </a:solidFill>
          </a:ln>
        </p:spPr>
        <p:txBody>
          <a:bodyPr wrap="square" lIns="91440" tIns="45720" rIns="91440" bIns="45720" anchor="t"/>
          <a:lstStyle/>
          <a:p>
            <a:pPr/>
            <a:r>
              <a:rPr lang="en-US" sz="1800" b="1">
                <a:solidFill>
                  <a:srgbClr val="0F172A"/>
                </a:solidFill>
              </a:rPr>
              <a:t>TCU Orchestrator</a:t>
            </a:r>
            <a:endParaRPr lang="en-US" sz="1800"/>
          </a:p>
          <a:p>
            <a:pPr/>
            <a:r>
              <a:rPr lang="en-US" sz="1200">
                <a:solidFill>
                  <a:srgbClr val="1F1F1F"/>
                </a:solidFill>
              </a:rPr>
              <a:t>campaign validation, trust, dependency plan, transport selection</a:t>
            </a:r>
            <a:endParaRPr lang="en-US" sz="1200"/>
          </a:p>
        </p:txBody>
      </p:sp>
      <p:sp>
        <p:nvSpPr>
          <p:cNvPr id="6" name="DoIP"/>
          <p:cNvSpPr txBox="1"/>
          <p:nvPr/>
        </p:nvSpPr>
        <p:spPr>
          <a:xfrm>
            <a:off x="594360" y="3063240"/>
            <a:ext cx="3291840" cy="86868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4ADE80"/>
            </a:solidFill>
          </a:ln>
        </p:spPr>
        <p:txBody>
          <a:bodyPr wrap="square" lIns="91440" tIns="45720" rIns="91440" bIns="45720" anchor="t"/>
          <a:lstStyle/>
          <a:p>
            <a:pPr/>
            <a:r>
              <a:rPr lang="en-US" sz="1700" b="1">
                <a:solidFill>
                  <a:srgbClr val="1F1F1F"/>
                </a:solidFill>
              </a:rPr>
              <a:t>DoIP Backbone</a:t>
            </a:r>
            <a:endParaRPr lang="en-US" sz="1700"/>
          </a:p>
          <a:p>
            <a:pPr/>
            <a:r>
              <a:rPr lang="en-US" sz="1200">
                <a:solidFill>
                  <a:srgbClr val="1F1F1F"/>
                </a:solidFill>
              </a:rPr>
              <a:t>UDP discovery + TCP diagnostics</a:t>
            </a:r>
            <a:endParaRPr lang="en-US" sz="1200"/>
          </a:p>
        </p:txBody>
      </p:sp>
      <p:sp>
        <p:nvSpPr>
          <p:cNvPr id="7" name="VCAN"/>
          <p:cNvSpPr txBox="1"/>
          <p:nvPr/>
        </p:nvSpPr>
        <p:spPr>
          <a:xfrm>
            <a:off x="4251960" y="3063240"/>
            <a:ext cx="2743200" cy="86868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BBF24"/>
            </a:solidFill>
          </a:ln>
        </p:spPr>
        <p:txBody>
          <a:bodyPr wrap="square" lIns="91440" tIns="45720" rIns="91440" bIns="45720" anchor="t"/>
          <a:lstStyle/>
          <a:p>
            <a:pPr/>
            <a:r>
              <a:rPr lang="en-US" sz="1600" b="1">
                <a:solidFill>
                  <a:srgbClr val="1F1F1F"/>
                </a:solidFill>
              </a:rPr>
              <a:t>VCAN / CAN FD / ISO-TP</a:t>
            </a:r>
            <a:endParaRPr lang="en-US" sz="1600"/>
          </a:p>
          <a:p>
            <a:pPr/>
            <a:r>
              <a:rPr lang="en-US" sz="1200">
                <a:solidFill>
                  <a:srgbClr val="1F1F1F"/>
                </a:solidFill>
              </a:rPr>
              <a:t>diagnostic path for CAN-based update</a:t>
            </a:r>
            <a:endParaRPr lang="en-US" sz="1200"/>
          </a:p>
        </p:txBody>
      </p:sp>
      <p:sp>
        <p:nvSpPr>
          <p:cNvPr id="8" name="Zones"/>
          <p:cNvSpPr txBox="1"/>
          <p:nvPr/>
        </p:nvSpPr>
        <p:spPr>
          <a:xfrm>
            <a:off x="7315200" y="2834640"/>
            <a:ext cx="3657600" cy="1143000"/>
          </a:xfrm>
          <a:prstGeom prst="roundRect">
            <a:avLst/>
          </a:prstGeom>
          <a:solidFill>
            <a:srgbClr val="FCE7F3"/>
          </a:solidFill>
          <a:ln w="19050">
            <a:solidFill>
              <a:srgbClr val="F472B6"/>
            </a:solidFill>
          </a:ln>
        </p:spPr>
        <p:txBody>
          <a:bodyPr wrap="square" lIns="91440" tIns="45720" rIns="91440" bIns="45720" anchor="t"/>
          <a:lstStyle/>
          <a:p>
            <a:pPr/>
            <a:r>
              <a:rPr lang="en-US" sz="1700" b="1">
                <a:solidFill>
                  <a:srgbClr val="1F1F1F"/>
                </a:solidFill>
              </a:rPr>
              <a:t>Zone Controllers</a:t>
            </a:r>
            <a:endParaRPr lang="en-US" sz="1700"/>
          </a:p>
          <a:p>
            <a:pPr/>
            <a:r>
              <a:rPr lang="en-US" sz="1200">
                <a:solidFill>
                  <a:srgbClr val="1F1F1F"/>
                </a:solidFill>
              </a:rPr>
              <a:t>health, policy, heartbeat, request forwarding</a:t>
            </a:r>
            <a:endParaRPr lang="en-US" sz="1200"/>
          </a:p>
        </p:txBody>
      </p:sp>
      <p:sp>
        <p:nvSpPr>
          <p:cNvPr id="9" name="Gateway ECU"/>
          <p:cNvSpPr txBox="1"/>
          <p:nvPr/>
        </p:nvSpPr>
        <p:spPr>
          <a:xfrm>
            <a:off x="685800" y="4526280"/>
            <a:ext cx="3291840" cy="8229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txBody>
          <a:bodyPr wrap="square" lIns="91440" tIns="45720" rIns="91440" bIns="45720" anchor="t"/>
          <a:lstStyle/>
          <a:p>
            <a:pPr/>
            <a:r>
              <a:rPr lang="en-US" sz="1600" b="1">
                <a:solidFill>
                  <a:srgbClr val="1F1F1F"/>
                </a:solidFill>
              </a:rPr>
              <a:t>Gateway ECU</a:t>
            </a:r>
            <a:endParaRPr lang="en-US" sz="1600"/>
          </a:p>
          <a:p>
            <a:pPr/>
            <a:r>
              <a:rPr lang="en-US" sz="1200">
                <a:solidFill>
                  <a:srgbClr val="1F1F1F"/>
                </a:solidFill>
              </a:rPr>
              <a:t>A/B slot + flash model</a:t>
            </a:r>
            <a:endParaRPr lang="en-US" sz="1200"/>
          </a:p>
        </p:txBody>
      </p:sp>
      <p:sp>
        <p:nvSpPr>
          <p:cNvPr id="10" name="BCM ECU"/>
          <p:cNvSpPr txBox="1"/>
          <p:nvPr/>
        </p:nvSpPr>
        <p:spPr>
          <a:xfrm>
            <a:off x="4206240" y="4526280"/>
            <a:ext cx="2743200" cy="8229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txBody>
          <a:bodyPr wrap="square" lIns="91440" tIns="45720" rIns="91440" bIns="45720" anchor="t"/>
          <a:lstStyle/>
          <a:p>
            <a:pPr/>
            <a:r>
              <a:rPr lang="en-US" sz="1600" b="1">
                <a:solidFill>
                  <a:srgbClr val="1F1F1F"/>
                </a:solidFill>
              </a:rPr>
              <a:t>BCM ECU</a:t>
            </a:r>
            <a:endParaRPr lang="en-US" sz="1600"/>
          </a:p>
          <a:p>
            <a:pPr/>
            <a:r>
              <a:rPr lang="en-US" sz="1200">
                <a:solidFill>
                  <a:srgbClr val="1F1F1F"/>
                </a:solidFill>
              </a:rPr>
              <a:t>UDS server + flash target</a:t>
            </a:r>
            <a:endParaRPr lang="en-US" sz="1200"/>
          </a:p>
        </p:txBody>
      </p:sp>
      <p:sp>
        <p:nvSpPr>
          <p:cNvPr id="11" name="Cluster ECU"/>
          <p:cNvSpPr txBox="1"/>
          <p:nvPr/>
        </p:nvSpPr>
        <p:spPr>
          <a:xfrm>
            <a:off x="7406640" y="4526280"/>
            <a:ext cx="3474720" cy="8229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txBody>
          <a:bodyPr wrap="square" lIns="91440" tIns="45720" rIns="91440" bIns="45720" anchor="t"/>
          <a:lstStyle/>
          <a:p>
            <a:pPr/>
            <a:r>
              <a:rPr lang="en-US" sz="1600" b="1">
                <a:solidFill>
                  <a:srgbClr val="1F1F1F"/>
                </a:solidFill>
              </a:rPr>
              <a:t>Cluster ECU</a:t>
            </a:r>
            <a:endParaRPr lang="en-US" sz="1600"/>
          </a:p>
          <a:p>
            <a:pPr/>
            <a:r>
              <a:rPr lang="en-US" sz="1200">
                <a:solidFill>
                  <a:srgbClr val="1F1F1F"/>
                </a:solidFill>
              </a:rPr>
              <a:t>UDS server + flash target</a:t>
            </a:r>
            <a:endParaRPr lang="en-US"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320040"/>
            <a:ext cx="11064240" cy="822960"/>
          </a:xfrm>
          <a:prstGeom prst="roundRect">
            <a:avLst/>
          </a:prstGeom>
          <a:solidFill>
            <a:srgbClr val="E8F0FB"/>
          </a:solidFill>
          <a:ln w="19050">
            <a:solidFill>
              <a:srgbClr val="94A3B8"/>
            </a:solidFill>
          </a:ln>
        </p:spPr>
        <p:txBody>
          <a:bodyPr wrap="square" lIns="91440" tIns="45720" rIns="91440" bIns="45720" anchor="t"/>
          <a:lstStyle/>
          <a:p>
            <a:pPr/>
            <a:r>
              <a:rPr lang="en-US" sz="2400" b="1">
                <a:solidFill>
                  <a:srgbClr val="0F172A"/>
                </a:solidFill>
              </a:rPr>
              <a:t>Architecture Flow In Detail</a:t>
            </a:r>
            <a:endParaRPr lang="en-US" sz="2400"/>
          </a:p>
        </p:txBody>
      </p:sp>
      <p:sp>
        <p:nvSpPr>
          <p:cNvPr id="4" name="Flow"/>
          <p:cNvSpPr txBox="1"/>
          <p:nvPr/>
        </p:nvSpPr>
        <p:spPr>
          <a:xfrm>
            <a:off x="640080" y="1188720"/>
            <a:ext cx="10698480" cy="4480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txBody>
          <a:bodyPr wrap="square" lIns="91440" tIns="45720" rIns="91440" bIns="45720" anchor="t"/>
          <a:lstStyle/>
          <a:p>
            <a:pPr/>
            <a:r>
              <a:rPr lang="en-US" sz="1450">
                <a:solidFill>
                  <a:srgbClr val="1F1F1F"/>
                </a:solidFill>
              </a:rPr>
              <a:t>1. Cloud publishes campaign/job and hosts artifacts over HTTPS.</a:t>
            </a:r>
            <a:endParaRPr lang="en-US" sz="1450"/>
          </a:p>
          <a:p>
            <a:pPr/>
            <a:r>
              <a:rPr lang="en-US" sz="1450">
                <a:solidFill>
                  <a:srgbClr val="1F1F1F"/>
                </a:solidFill>
              </a:rPr>
              <a:t>2. TCU receives trigger by MQTT or Mender deployment, then downloads campaign and firmware.</a:t>
            </a:r>
            <a:endParaRPr lang="en-US" sz="1450"/>
          </a:p>
          <a:p>
            <a:pPr/>
            <a:r>
              <a:rPr lang="en-US" sz="1450">
                <a:solidFill>
                  <a:srgbClr val="1F1F1F"/>
                </a:solidFill>
              </a:rPr>
              <a:t>3. TCU verifies repository state, metadata trust, inventory, compatibility, and dependency order.</a:t>
            </a:r>
            <a:endParaRPr lang="en-US" sz="1450"/>
          </a:p>
          <a:p>
            <a:pPr/>
            <a:r>
              <a:rPr lang="en-US" sz="1450">
                <a:solidFill>
                  <a:srgbClr val="1F1F1F"/>
                </a:solidFill>
              </a:rPr>
              <a:t>4. TCU selects transport: DoIP backbone or VCAN/CAN FD path.</a:t>
            </a:r>
            <a:endParaRPr lang="en-US" sz="1450"/>
          </a:p>
          <a:p>
            <a:pPr/>
            <a:r>
              <a:rPr lang="en-US" sz="1450">
                <a:solidFill>
                  <a:srgbClr val="1F1F1F"/>
                </a:solidFill>
              </a:rPr>
              <a:t>5. Zone controllers enforce ECU heartbeat availability and service/programming policy.</a:t>
            </a:r>
            <a:endParaRPr lang="en-US" sz="1450"/>
          </a:p>
          <a:p>
            <a:pPr/>
            <a:r>
              <a:rPr lang="en-US" sz="1450">
                <a:solidFill>
                  <a:srgbClr val="1F1F1F"/>
                </a:solidFill>
              </a:rPr>
              <a:t>6. ECU programming follows UDS-oriented flow: session -&gt; security -&gt; erase -&gt; download -&gt; transfer -&gt; verify -&gt; activate -&gt; reset.</a:t>
            </a:r>
            <a:endParaRPr lang="en-US" sz="1450"/>
          </a:p>
          <a:p>
            <a:pPr/>
            <a:r>
              <a:rPr lang="en-US" sz="1450">
                <a:solidFill>
                  <a:srgbClr val="1F1F1F"/>
                </a:solidFill>
              </a:rPr>
              <a:t>7. ECU installs into inactive A/B slot; post-install validation commits or rolls back.</a:t>
            </a:r>
            <a:endParaRPr lang="en-US" sz="1450"/>
          </a:p>
          <a:p>
            <a:pPr/>
            <a:r>
              <a:rPr lang="en-US" sz="1450">
                <a:solidFill>
                  <a:srgbClr val="1F1F1F"/>
                </a:solidFill>
              </a:rPr>
              <a:t>8. Final result is reported back through status APIs / MQTT / Mender view.</a:t>
            </a:r>
            <a:endParaRPr lang="en-US" sz="14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320040"/>
            <a:ext cx="11064240" cy="822960"/>
          </a:xfrm>
          <a:prstGeom prst="roundRect">
            <a:avLst/>
          </a:prstGeom>
          <a:solidFill>
            <a:srgbClr val="E8F0FB"/>
          </a:solidFill>
          <a:ln w="19050">
            <a:solidFill>
              <a:srgbClr val="94A3B8"/>
            </a:solidFill>
          </a:ln>
        </p:spPr>
        <p:txBody>
          <a:bodyPr wrap="square" lIns="91440" tIns="45720" rIns="91440" bIns="45720" anchor="t"/>
          <a:lstStyle/>
          <a:p>
            <a:pPr/>
            <a:r>
              <a:rPr lang="en-US" sz="2400" b="1">
                <a:solidFill>
                  <a:srgbClr val="0F172A"/>
                </a:solidFill>
              </a:rPr>
              <a:t>Scenario 1: All ECUs Healthy And Eligible</a:t>
            </a:r>
            <a:endParaRPr lang="en-US" sz="2400"/>
          </a:p>
        </p:txBody>
      </p:sp>
      <p:sp>
        <p:nvSpPr>
          <p:cNvPr id="4" name="Input"/>
          <p:cNvSpPr txBox="1"/>
          <p:nvPr/>
        </p:nvSpPr>
        <p:spPr>
          <a:xfrm>
            <a:off x="594360" y="1234440"/>
            <a:ext cx="3429000" cy="429768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4ADE80"/>
            </a:solidFill>
          </a:ln>
        </p:spPr>
        <p:txBody>
          <a:bodyPr wrap="square" lIns="91440" tIns="45720" rIns="91440" bIns="45720" anchor="t"/>
          <a:lstStyle/>
          <a:p>
            <a:pPr/>
            <a:r>
              <a:rPr lang="en-US" sz="1750" b="1">
                <a:solidFill>
                  <a:srgbClr val="1F1F1F"/>
                </a:solidFill>
              </a:rPr>
              <a:t>Setup</a:t>
            </a:r>
            <a:endParaRPr lang="en-US" sz="1750"/>
          </a:p>
          <a:p>
            <a:pPr/>
            <a:r>
              <a:rPr lang="en-US" sz="1450">
                <a:solidFill>
                  <a:srgbClr val="1F1F1F"/>
                </a:solidFill>
              </a:rPr>
              <a:t>Topology: default</a:t>
            </a:r>
            <a:endParaRPr lang="en-US" sz="1450"/>
          </a:p>
          <a:p>
            <a:pPr/>
            <a:r>
              <a:rPr lang="en-US" sz="1450">
                <a:solidFill>
                  <a:srgbClr val="1F1F1F"/>
                </a:solidFill>
              </a:rPr>
              <a:t>Dependency: topology default</a:t>
            </a:r>
            <a:endParaRPr lang="en-US" sz="1450"/>
          </a:p>
          <a:p>
            <a:pPr/>
            <a:r>
              <a:rPr lang="en-US" sz="1450">
                <a:solidFill>
                  <a:srgbClr val="1F1F1F"/>
                </a:solidFill>
              </a:rPr>
              <a:t>Offline ECUs: none</a:t>
            </a:r>
            <a:endParaRPr lang="en-US" sz="1450"/>
          </a:p>
          <a:p>
            <a:pPr/>
            <a:r>
              <a:rPr lang="en-US" sz="1450">
                <a:solidFill>
                  <a:srgbClr val="1F1F1F"/>
                </a:solidFill>
              </a:rPr>
              <a:t>ECU state: fresh baseline</a:t>
            </a:r>
            <a:endParaRPr lang="en-US" sz="1450"/>
          </a:p>
          <a:p>
            <a:pPr/>
            <a:r>
              <a:rPr lang="en-US" sz="1450">
                <a:solidFill>
                  <a:srgbClr val="1F1F1F"/>
                </a:solidFill>
              </a:rPr>
              <a:t>Transport: DoIP or VCAN</a:t>
            </a:r>
            <a:endParaRPr lang="en-US" sz="1450"/>
          </a:p>
        </p:txBody>
      </p:sp>
      <p:sp>
        <p:nvSpPr>
          <p:cNvPr id="5" name="Behavior"/>
          <p:cNvSpPr txBox="1"/>
          <p:nvPr/>
        </p:nvSpPr>
        <p:spPr>
          <a:xfrm>
            <a:off x="4251960" y="1234440"/>
            <a:ext cx="3383280" cy="4297680"/>
          </a:xfrm>
          <a:prstGeom prst="roundRect">
            <a:avLst/>
          </a:prstGeom>
          <a:solidFill>
            <a:srgbClr val="E0E7FF"/>
          </a:solidFill>
          <a:ln w="19050">
            <a:solidFill>
              <a:srgbClr val="818CF8"/>
            </a:solidFill>
          </a:ln>
        </p:spPr>
        <p:txBody>
          <a:bodyPr wrap="square" lIns="91440" tIns="45720" rIns="91440" bIns="45720" anchor="t"/>
          <a:lstStyle/>
          <a:p>
            <a:pPr/>
            <a:r>
              <a:rPr lang="en-US" sz="1750" b="1">
                <a:solidFill>
                  <a:srgbClr val="1F1F1F"/>
                </a:solidFill>
              </a:rPr>
              <a:t>Expected behavior</a:t>
            </a:r>
            <a:endParaRPr lang="en-US" sz="1750"/>
          </a:p>
          <a:p>
            <a:pPr/>
            <a:r>
              <a:rPr lang="en-US" sz="1450">
                <a:solidFill>
                  <a:srgbClr val="1F1F1F"/>
                </a:solidFill>
              </a:rPr>
              <a:t>Discovery finds all 3 ECUs.</a:t>
            </a:r>
            <a:endParaRPr lang="en-US" sz="1450"/>
          </a:p>
          <a:p>
            <a:pPr/>
            <a:r>
              <a:rPr lang="en-US" sz="1450">
                <a:solidFill>
                  <a:srgbClr val="1F1F1F"/>
                </a:solidFill>
              </a:rPr>
              <a:t>Compatibility passes.</a:t>
            </a:r>
            <a:endParaRPr lang="en-US" sz="1450"/>
          </a:p>
          <a:p>
            <a:pPr/>
            <a:r>
              <a:rPr lang="en-US" sz="1450">
                <a:solidFill>
                  <a:srgbClr val="1F1F1F"/>
                </a:solidFill>
              </a:rPr>
              <a:t>Topological order is built.</a:t>
            </a:r>
            <a:endParaRPr lang="en-US" sz="1450"/>
          </a:p>
          <a:p>
            <a:pPr/>
            <a:r>
              <a:rPr lang="en-US" sz="1450">
                <a:solidFill>
                  <a:srgbClr val="1F1F1F"/>
                </a:solidFill>
              </a:rPr>
              <a:t>Gateway, BCM, and Cluster are flashed and verified.</a:t>
            </a:r>
            <a:endParaRPr lang="en-US" sz="1450"/>
          </a:p>
          <a:p>
            <a:pPr/>
            <a:r>
              <a:rPr lang="en-US" sz="1450">
                <a:solidFill>
                  <a:srgbClr val="1F1F1F"/>
                </a:solidFill>
              </a:rPr>
              <a:t>All move to target version and committed slot.</a:t>
            </a:r>
            <a:endParaRPr lang="en-US" sz="1450"/>
          </a:p>
        </p:txBody>
      </p:sp>
      <p:sp>
        <p:nvSpPr>
          <p:cNvPr id="6" name="Presenter"/>
          <p:cNvSpPr txBox="1"/>
          <p:nvPr/>
        </p:nvSpPr>
        <p:spPr>
          <a:xfrm>
            <a:off x="7909560" y="1234440"/>
            <a:ext cx="2743200" cy="429768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BBF24"/>
            </a:solidFill>
          </a:ln>
        </p:spPr>
        <p:txBody>
          <a:bodyPr wrap="square" lIns="91440" tIns="45720" rIns="91440" bIns="45720" anchor="t"/>
          <a:lstStyle/>
          <a:p>
            <a:pPr/>
            <a:r>
              <a:rPr lang="en-US" sz="1750" b="1">
                <a:solidFill>
                  <a:srgbClr val="1F1F1F"/>
                </a:solidFill>
              </a:rPr>
              <a:t>Presenter message</a:t>
            </a:r>
            <a:endParaRPr lang="en-US" sz="1750"/>
          </a:p>
          <a:p>
            <a:pPr/>
            <a:r>
              <a:rPr lang="en-US" sz="1450">
                <a:solidFill>
                  <a:srgbClr val="1F1F1F"/>
                </a:solidFill>
              </a:rPr>
              <a:t>This is the reference happy-path OTA execution.</a:t>
            </a:r>
            <a:endParaRPr lang="en-US" sz="1450"/>
          </a:p>
          <a:p>
            <a:pPr/>
            <a:r>
              <a:rPr lang="en-US" sz="1450">
                <a:solidFill>
                  <a:srgbClr val="1F1F1F"/>
                </a:solidFill>
              </a:rPr>
              <a:t>It proves orchestration, transport, flashing, and commit flow end-to-end.</a:t>
            </a:r>
            <a:endParaRPr lang="en-US" sz="14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320040"/>
            <a:ext cx="11064240" cy="822960"/>
          </a:xfrm>
          <a:prstGeom prst="roundRect">
            <a:avLst/>
          </a:prstGeom>
          <a:solidFill>
            <a:srgbClr val="E8F0FB"/>
          </a:solidFill>
          <a:ln w="19050">
            <a:solidFill>
              <a:srgbClr val="94A3B8"/>
            </a:solidFill>
          </a:ln>
        </p:spPr>
        <p:txBody>
          <a:bodyPr wrap="square" lIns="91440" tIns="45720" rIns="91440" bIns="45720" anchor="t"/>
          <a:lstStyle/>
          <a:p>
            <a:pPr/>
            <a:r>
              <a:rPr lang="en-US" sz="2400" b="1">
                <a:solidFill>
                  <a:srgbClr val="0F172A"/>
                </a:solidFill>
              </a:rPr>
              <a:t>Scenario 2: Some ECUs Already At Target Version</a:t>
            </a:r>
            <a:endParaRPr lang="en-US" sz="2400"/>
          </a:p>
        </p:txBody>
      </p:sp>
      <p:sp>
        <p:nvSpPr>
          <p:cNvPr id="4" name="Input"/>
          <p:cNvSpPr txBox="1"/>
          <p:nvPr/>
        </p:nvSpPr>
        <p:spPr>
          <a:xfrm>
            <a:off x="594360" y="1234440"/>
            <a:ext cx="3566160" cy="443484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60A5FA"/>
            </a:solidFill>
          </a:ln>
        </p:spPr>
        <p:txBody>
          <a:bodyPr wrap="square" lIns="91440" tIns="45720" rIns="91440" bIns="45720" anchor="t"/>
          <a:lstStyle/>
          <a:p>
            <a:pPr/>
            <a:r>
              <a:rPr lang="en-US" sz="1750" b="1">
                <a:solidFill>
                  <a:srgbClr val="1F1F1F"/>
                </a:solidFill>
              </a:rPr>
              <a:t>Setup</a:t>
            </a:r>
            <a:endParaRPr lang="en-US" sz="1750"/>
          </a:p>
          <a:p>
            <a:pPr/>
            <a:r>
              <a:rPr lang="en-US" sz="1450">
                <a:solidFill>
                  <a:srgbClr val="1F1F1F"/>
                </a:solidFill>
              </a:rPr>
              <a:t>Use ECU-state presets such as:</a:t>
            </a:r>
            <a:endParaRPr lang="en-US" sz="1450"/>
          </a:p>
          <a:p>
            <a:pPr/>
            <a:r>
              <a:rPr lang="en-US" sz="1450">
                <a:solidFill>
                  <a:srgbClr val="1F1F1F"/>
                </a:solidFill>
              </a:rPr>
              <a:t>Gateway + BCM already updated</a:t>
            </a:r>
            <a:endParaRPr lang="en-US" sz="1450"/>
          </a:p>
          <a:p>
            <a:pPr/>
            <a:r>
              <a:rPr lang="en-US" sz="1450">
                <a:solidFill>
                  <a:srgbClr val="1F1F1F"/>
                </a:solidFill>
              </a:rPr>
              <a:t>Gateway + Cluster already updated</a:t>
            </a:r>
            <a:endParaRPr lang="en-US" sz="1450"/>
          </a:p>
          <a:p>
            <a:pPr/>
            <a:r>
              <a:rPr lang="en-US" sz="1450">
                <a:solidFill>
                  <a:srgbClr val="1F1F1F"/>
                </a:solidFill>
              </a:rPr>
              <a:t>BCM + Cluster already updated</a:t>
            </a:r>
            <a:endParaRPr lang="en-US" sz="1450"/>
          </a:p>
        </p:txBody>
      </p:sp>
      <p:sp>
        <p:nvSpPr>
          <p:cNvPr id="5" name="DynamicDecision"/>
          <p:cNvSpPr txBox="1"/>
          <p:nvPr/>
        </p:nvSpPr>
        <p:spPr>
          <a:xfrm>
            <a:off x="4389120" y="1234440"/>
            <a:ext cx="3474720" cy="443484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4ADE80"/>
            </a:solidFill>
          </a:ln>
        </p:spPr>
        <p:txBody>
          <a:bodyPr wrap="square" lIns="91440" tIns="45720" rIns="91440" bIns="45720" anchor="t"/>
          <a:lstStyle/>
          <a:p>
            <a:pPr/>
            <a:r>
              <a:rPr lang="en-US" sz="1750" b="1">
                <a:solidFill>
                  <a:srgbClr val="1F1F1F"/>
                </a:solidFill>
              </a:rPr>
              <a:t>Expected behavior</a:t>
            </a:r>
            <a:endParaRPr lang="en-US" sz="1750"/>
          </a:p>
          <a:p>
            <a:pPr/>
            <a:r>
              <a:rPr lang="en-US" sz="1450">
                <a:solidFill>
                  <a:srgbClr val="1F1F1F"/>
                </a:solidFill>
              </a:rPr>
              <a:t>TCU discovers live ECU versions.</a:t>
            </a:r>
            <a:endParaRPr lang="en-US" sz="1450"/>
          </a:p>
          <a:p>
            <a:pPr/>
            <a:r>
              <a:rPr lang="en-US" sz="1450">
                <a:solidFill>
                  <a:srgbClr val="1F1F1F"/>
                </a:solidFill>
              </a:rPr>
              <a:t>ECUs already at target are classified as ALREADY_SATISFIED and skipped.</a:t>
            </a:r>
            <a:endParaRPr lang="en-US" sz="1450"/>
          </a:p>
          <a:p>
            <a:pPr/>
            <a:r>
              <a:rPr lang="en-US" sz="1450">
                <a:solidFill>
                  <a:srgbClr val="1F1F1F"/>
                </a:solidFill>
              </a:rPr>
              <a:t>Only remaining compatible ECUs are updated.</a:t>
            </a:r>
            <a:endParaRPr lang="en-US" sz="1450"/>
          </a:p>
          <a:p>
            <a:pPr/>
            <a:r>
              <a:rPr lang="en-US" sz="1450">
                <a:solidFill>
                  <a:srgbClr val="1F1F1F"/>
                </a:solidFill>
              </a:rPr>
              <a:t>This is dynamic skip/update, not a hardcoded replay.</a:t>
            </a:r>
            <a:endParaRPr lang="en-US" sz="1450"/>
          </a:p>
        </p:txBody>
      </p:sp>
      <p:sp>
        <p:nvSpPr>
          <p:cNvPr id="6" name="Presenter"/>
          <p:cNvSpPr txBox="1"/>
          <p:nvPr/>
        </p:nvSpPr>
        <p:spPr>
          <a:xfrm>
            <a:off x="8183879" y="1234440"/>
            <a:ext cx="2468880" cy="443484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FDBA74"/>
            </a:solidFill>
          </a:ln>
        </p:spPr>
        <p:txBody>
          <a:bodyPr wrap="square" lIns="91440" tIns="45720" rIns="91440" bIns="45720" anchor="t"/>
          <a:lstStyle/>
          <a:p>
            <a:pPr/>
            <a:r>
              <a:rPr lang="en-US" sz="1750" b="1">
                <a:solidFill>
                  <a:srgbClr val="1F1F1F"/>
                </a:solidFill>
              </a:rPr>
              <a:t>Presenter message</a:t>
            </a:r>
            <a:endParaRPr lang="en-US" sz="1750"/>
          </a:p>
          <a:p>
            <a:pPr/>
            <a:r>
              <a:rPr lang="en-US" sz="1450">
                <a:solidFill>
                  <a:srgbClr val="1F1F1F"/>
                </a:solidFill>
              </a:rPr>
              <a:t>This demonstrates production-style delta targeting: do not reflash ECUs that already satisfy campaign target.</a:t>
            </a:r>
            <a:endParaRPr lang="en-US" sz="14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320040"/>
            <a:ext cx="11064240" cy="822960"/>
          </a:xfrm>
          <a:prstGeom prst="roundRect">
            <a:avLst/>
          </a:prstGeom>
          <a:solidFill>
            <a:srgbClr val="E8F0FB"/>
          </a:solidFill>
          <a:ln w="19050">
            <a:solidFill>
              <a:srgbClr val="94A3B8"/>
            </a:solidFill>
          </a:ln>
        </p:spPr>
        <p:txBody>
          <a:bodyPr wrap="square" lIns="91440" tIns="45720" rIns="91440" bIns="45720" anchor="t"/>
          <a:lstStyle/>
          <a:p>
            <a:pPr/>
            <a:r>
              <a:rPr lang="en-US" sz="2400" b="1">
                <a:solidFill>
                  <a:srgbClr val="0F172A"/>
                </a:solidFill>
              </a:rPr>
              <a:t>Scenario 3: Some ECUs Are Not Running / Offline</a:t>
            </a:r>
            <a:endParaRPr lang="en-US" sz="2400"/>
          </a:p>
        </p:txBody>
      </p:sp>
      <p:sp>
        <p:nvSpPr>
          <p:cNvPr id="4" name="OfflineSetup"/>
          <p:cNvSpPr txBox="1"/>
          <p:nvPr/>
        </p:nvSpPr>
        <p:spPr>
          <a:xfrm>
            <a:off x="594360" y="1234440"/>
            <a:ext cx="3474720" cy="4434840"/>
          </a:xfrm>
          <a:prstGeom prst="roundRect">
            <a:avLst/>
          </a:prstGeom>
          <a:solidFill>
            <a:srgbClr val="FCE7F3"/>
          </a:solidFill>
          <a:ln w="19050">
            <a:solidFill>
              <a:srgbClr val="F472B6"/>
            </a:solidFill>
          </a:ln>
        </p:spPr>
        <p:txBody>
          <a:bodyPr wrap="square" lIns="91440" tIns="45720" rIns="91440" bIns="45720" anchor="t"/>
          <a:lstStyle/>
          <a:p>
            <a:pPr/>
            <a:r>
              <a:rPr lang="en-US" sz="1750" b="1">
                <a:solidFill>
                  <a:srgbClr val="1F1F1F"/>
                </a:solidFill>
              </a:rPr>
              <a:t>How we trigger it</a:t>
            </a:r>
            <a:endParaRPr lang="en-US" sz="1750"/>
          </a:p>
          <a:p>
            <a:pPr/>
            <a:r>
              <a:rPr lang="en-US" sz="1450">
                <a:solidFill>
                  <a:srgbClr val="1F1F1F"/>
                </a:solidFill>
              </a:rPr>
              <a:t>Dynamic launcher offline menu</a:t>
            </a:r>
            <a:endParaRPr lang="en-US" sz="1450"/>
          </a:p>
          <a:p>
            <a:pPr/>
            <a:r>
              <a:rPr lang="en-US" sz="1450">
                <a:solidFill>
                  <a:srgbClr val="1F1F1F"/>
                </a:solidFill>
              </a:rPr>
              <a:t>or live fault injection:</a:t>
            </a:r>
            <a:endParaRPr lang="en-US" sz="1450"/>
          </a:p>
          <a:p>
            <a:pPr/>
            <a:r>
              <a:rPr lang="en-US" sz="1450">
                <a:solidFill>
                  <a:srgbClr val="1F1F1F"/>
                </a:solidFill>
              </a:rPr>
              <a:t>ecu_fault_control.py &lt;ecu&gt; heartbeat off</a:t>
            </a:r>
            <a:endParaRPr lang="en-US" sz="1450"/>
          </a:p>
          <a:p>
            <a:pPr/>
            <a:r>
              <a:rPr lang="en-US" sz="1450">
                <a:solidFill>
                  <a:srgbClr val="1F1F1F"/>
                </a:solidFill>
              </a:rPr>
              <a:t>Zone controller then marks ECU OFFLINE after heartbeat timeout.</a:t>
            </a:r>
            <a:endParaRPr lang="en-US" sz="1450"/>
          </a:p>
        </p:txBody>
      </p:sp>
      <p:sp>
        <p:nvSpPr>
          <p:cNvPr id="5" name="OfflineBehavior"/>
          <p:cNvSpPr txBox="1"/>
          <p:nvPr/>
        </p:nvSpPr>
        <p:spPr>
          <a:xfrm>
            <a:off x="4389120" y="1234440"/>
            <a:ext cx="3474720" cy="44348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BBF24"/>
            </a:solidFill>
          </a:ln>
        </p:spPr>
        <p:txBody>
          <a:bodyPr wrap="square" lIns="91440" tIns="45720" rIns="91440" bIns="45720" anchor="t"/>
          <a:lstStyle/>
          <a:p>
            <a:pPr/>
            <a:r>
              <a:rPr lang="en-US" sz="1750" b="1">
                <a:solidFill>
                  <a:srgbClr val="1F1F1F"/>
                </a:solidFill>
              </a:rPr>
              <a:t>Expected behavior</a:t>
            </a:r>
            <a:endParaRPr lang="en-US" sz="1750"/>
          </a:p>
          <a:p>
            <a:pPr/>
            <a:r>
              <a:rPr lang="en-US" sz="1450">
                <a:solidFill>
                  <a:srgbClr val="1F1F1F"/>
                </a:solidFill>
              </a:rPr>
              <a:t>Cluster offline: may be skipped if campaign policy allows it.</a:t>
            </a:r>
            <a:endParaRPr lang="en-US" sz="1450"/>
          </a:p>
          <a:p>
            <a:pPr/>
            <a:r>
              <a:rPr lang="en-US" sz="1450">
                <a:solidFill>
                  <a:srgbClr val="1F1F1F"/>
                </a:solidFill>
              </a:rPr>
              <a:t>BCM offline: may abort if BCM is mandatory or dependency-critical.</a:t>
            </a:r>
            <a:endParaRPr lang="en-US" sz="1450"/>
          </a:p>
          <a:p>
            <a:pPr/>
            <a:r>
              <a:rPr lang="en-US" sz="1450">
                <a:solidFill>
                  <a:srgbClr val="1F1F1F"/>
                </a:solidFill>
              </a:rPr>
              <a:t>Gateway offline: typically abort because the main dependency path is unavailable.</a:t>
            </a:r>
            <a:endParaRPr lang="en-US" sz="1450"/>
          </a:p>
        </p:txBody>
      </p:sp>
      <p:sp>
        <p:nvSpPr>
          <p:cNvPr id="6" name="Realism"/>
          <p:cNvSpPr txBox="1"/>
          <p:nvPr/>
        </p:nvSpPr>
        <p:spPr>
          <a:xfrm>
            <a:off x="8183879" y="1234440"/>
            <a:ext cx="2514600" cy="4434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txBody>
          <a:bodyPr wrap="square" lIns="91440" tIns="45720" rIns="91440" bIns="45720" anchor="t"/>
          <a:lstStyle/>
          <a:p>
            <a:pPr/>
            <a:r>
              <a:rPr lang="en-US" sz="1750" b="1">
                <a:solidFill>
                  <a:srgbClr val="1F1F1F"/>
                </a:solidFill>
              </a:rPr>
              <a:t>Presenter message</a:t>
            </a:r>
            <a:endParaRPr lang="en-US" sz="1750"/>
          </a:p>
          <a:p>
            <a:pPr/>
            <a:r>
              <a:rPr lang="en-US" sz="1450">
                <a:solidFill>
                  <a:srgbClr val="1F1F1F"/>
                </a:solidFill>
              </a:rPr>
              <a:t>The fault injection is manual, but the detection and OTA reaction are automatic.</a:t>
            </a:r>
            <a:endParaRPr lang="en-US" sz="14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320040"/>
            <a:ext cx="11064240" cy="822960"/>
          </a:xfrm>
          <a:prstGeom prst="roundRect">
            <a:avLst/>
          </a:prstGeom>
          <a:solidFill>
            <a:srgbClr val="E8F0FB"/>
          </a:solidFill>
          <a:ln w="19050">
            <a:solidFill>
              <a:srgbClr val="94A3B8"/>
            </a:solidFill>
          </a:ln>
        </p:spPr>
        <p:txBody>
          <a:bodyPr wrap="square" lIns="91440" tIns="45720" rIns="91440" bIns="45720" anchor="t"/>
          <a:lstStyle/>
          <a:p>
            <a:pPr/>
            <a:r>
              <a:rPr lang="en-US" sz="2400" b="1">
                <a:solidFill>
                  <a:srgbClr val="0F172A"/>
                </a:solidFill>
              </a:rPr>
              <a:t>Scenario 4: Condition Mismatched / Campaign Rejected</a:t>
            </a:r>
            <a:endParaRPr lang="en-US" sz="2400"/>
          </a:p>
        </p:txBody>
      </p:sp>
      <p:sp>
        <p:nvSpPr>
          <p:cNvPr id="4" name="MismatchTypes"/>
          <p:cNvSpPr txBox="1"/>
          <p:nvPr/>
        </p:nvSpPr>
        <p:spPr>
          <a:xfrm>
            <a:off x="594360" y="1234440"/>
            <a:ext cx="3840480" cy="4434840"/>
          </a:xfrm>
          <a:prstGeom prst="roundRect">
            <a:avLst/>
          </a:prstGeom>
          <a:solidFill>
            <a:srgbClr val="FEE2E2"/>
          </a:solidFill>
          <a:ln w="19050">
            <a:solidFill>
              <a:srgbClr val="F87171"/>
            </a:solidFill>
          </a:ln>
        </p:spPr>
        <p:txBody>
          <a:bodyPr wrap="square" lIns="91440" tIns="45720" rIns="91440" bIns="45720" anchor="t"/>
          <a:lstStyle/>
          <a:p>
            <a:pPr/>
            <a:r>
              <a:rPr lang="en-US" sz="1750" b="1">
                <a:solidFill>
                  <a:srgbClr val="1F1F1F"/>
                </a:solidFill>
              </a:rPr>
              <a:t>Typical mismatch cases</a:t>
            </a:r>
            <a:endParaRPr lang="en-US" sz="1750"/>
          </a:p>
          <a:p>
            <a:pPr/>
            <a:r>
              <a:rPr lang="en-US" sz="1450">
                <a:solidFill>
                  <a:srgbClr val="1F1F1F"/>
                </a:solidFill>
              </a:rPr>
              <a:t>Transport unsupported for selected target.</a:t>
            </a:r>
            <a:endParaRPr lang="en-US" sz="1450"/>
          </a:p>
          <a:p>
            <a:pPr/>
            <a:r>
              <a:rPr lang="en-US" sz="1450">
                <a:solidFill>
                  <a:srgbClr val="1F1F1F"/>
                </a:solidFill>
              </a:rPr>
              <a:t>Bootloader minimum not satisfied.</a:t>
            </a:r>
            <a:endParaRPr lang="en-US" sz="1450"/>
          </a:p>
          <a:p>
            <a:pPr/>
            <a:r>
              <a:rPr lang="en-US" sz="1450">
                <a:solidFill>
                  <a:srgbClr val="1F1F1F"/>
                </a:solidFill>
              </a:rPr>
              <a:t>Mandatory ECU not found or not reachable.</a:t>
            </a:r>
            <a:endParaRPr lang="en-US" sz="1450"/>
          </a:p>
          <a:p>
            <a:pPr/>
            <a:r>
              <a:rPr lang="en-US" sz="1450">
                <a:solidFill>
                  <a:srgbClr val="1F1F1F"/>
                </a:solidFill>
              </a:rPr>
              <a:t>Runtime ECU state preset does not match actual live version state.</a:t>
            </a:r>
            <a:endParaRPr lang="en-US" sz="1450"/>
          </a:p>
        </p:txBody>
      </p:sp>
      <p:sp>
        <p:nvSpPr>
          <p:cNvPr id="5" name="MismatchBehavior"/>
          <p:cNvSpPr txBox="1"/>
          <p:nvPr/>
        </p:nvSpPr>
        <p:spPr>
          <a:xfrm>
            <a:off x="4663440" y="1234440"/>
            <a:ext cx="3200400" cy="443484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FDBA74"/>
            </a:solidFill>
          </a:ln>
        </p:spPr>
        <p:txBody>
          <a:bodyPr wrap="square" lIns="91440" tIns="45720" rIns="91440" bIns="45720" anchor="t"/>
          <a:lstStyle/>
          <a:p>
            <a:pPr/>
            <a:r>
              <a:rPr lang="en-US" sz="1750" b="1">
                <a:solidFill>
                  <a:srgbClr val="1F1F1F"/>
                </a:solidFill>
              </a:rPr>
              <a:t>Expected behavior</a:t>
            </a:r>
            <a:endParaRPr lang="en-US" sz="1750"/>
          </a:p>
          <a:p>
            <a:pPr/>
            <a:r>
              <a:rPr lang="en-US" sz="1450">
                <a:solidFill>
                  <a:srgbClr val="1F1F1F"/>
                </a:solidFill>
              </a:rPr>
              <a:t>TCU fails validation early.</a:t>
            </a:r>
            <a:endParaRPr lang="en-US" sz="1450"/>
          </a:p>
          <a:p>
            <a:pPr/>
            <a:r>
              <a:rPr lang="en-US" sz="1450">
                <a:solidFill>
                  <a:srgbClr val="1F1F1F"/>
                </a:solidFill>
              </a:rPr>
              <a:t>Campaign is rejected or narrowed before flashing.</a:t>
            </a:r>
            <a:endParaRPr lang="en-US" sz="1450"/>
          </a:p>
          <a:p>
            <a:pPr/>
            <a:r>
              <a:rPr lang="en-US" sz="1450">
                <a:solidFill>
                  <a:srgbClr val="1F1F1F"/>
                </a:solidFill>
              </a:rPr>
              <a:t>Unsafe or inconsistent rollout does not proceed.</a:t>
            </a:r>
            <a:endParaRPr lang="en-US" sz="1450"/>
          </a:p>
        </p:txBody>
      </p:sp>
      <p:sp>
        <p:nvSpPr>
          <p:cNvPr id="6" name="Presenter"/>
          <p:cNvSpPr txBox="1"/>
          <p:nvPr/>
        </p:nvSpPr>
        <p:spPr>
          <a:xfrm>
            <a:off x="8229600" y="1234440"/>
            <a:ext cx="2468880" cy="4434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txBody>
          <a:bodyPr wrap="square" lIns="91440" tIns="45720" rIns="91440" bIns="45720" anchor="t"/>
          <a:lstStyle/>
          <a:p>
            <a:pPr/>
            <a:r>
              <a:rPr lang="en-US" sz="1750" b="1">
                <a:solidFill>
                  <a:srgbClr val="1F1F1F"/>
                </a:solidFill>
              </a:rPr>
              <a:t>Presenter message</a:t>
            </a:r>
            <a:endParaRPr lang="en-US" sz="1750"/>
          </a:p>
          <a:p>
            <a:pPr/>
            <a:r>
              <a:rPr lang="en-US" sz="1450">
                <a:solidFill>
                  <a:srgbClr val="1F1F1F"/>
                </a:solidFill>
              </a:rPr>
              <a:t>This slide proves the system does not blindly push firmware when safety or consistency checks fail.</a:t>
            </a:r>
            <a:endParaRPr lang="en-US" sz="14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320040"/>
            <a:ext cx="11064240" cy="822960"/>
          </a:xfrm>
          <a:prstGeom prst="roundRect">
            <a:avLst/>
          </a:prstGeom>
          <a:solidFill>
            <a:srgbClr val="E8F0FB"/>
          </a:solidFill>
          <a:ln w="19050">
            <a:solidFill>
              <a:srgbClr val="94A3B8"/>
            </a:solidFill>
          </a:ln>
        </p:spPr>
        <p:txBody>
          <a:bodyPr wrap="square" lIns="91440" tIns="45720" rIns="91440" bIns="45720" anchor="t"/>
          <a:lstStyle/>
          <a:p>
            <a:pPr/>
            <a:r>
              <a:rPr lang="en-US" sz="2400" b="1">
                <a:solidFill>
                  <a:srgbClr val="0F172A"/>
                </a:solidFill>
              </a:rPr>
              <a:t>Trigger Paths For The Demo</a:t>
            </a:r>
            <a:endParaRPr lang="en-US" sz="2400"/>
          </a:p>
        </p:txBody>
      </p:sp>
      <p:sp>
        <p:nvSpPr>
          <p:cNvPr id="4" name="LocalTrigger"/>
          <p:cNvSpPr txBox="1"/>
          <p:nvPr/>
        </p:nvSpPr>
        <p:spPr>
          <a:xfrm>
            <a:off x="594360" y="1234440"/>
            <a:ext cx="4937760" cy="448056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60A5FA"/>
            </a:solidFill>
          </a:ln>
        </p:spPr>
        <p:txBody>
          <a:bodyPr wrap="square" lIns="91440" tIns="45720" rIns="91440" bIns="45720" anchor="t"/>
          <a:lstStyle/>
          <a:p>
            <a:pPr/>
            <a:r>
              <a:rPr lang="en-US" sz="1750" b="1">
                <a:solidFill>
                  <a:srgbClr val="1F1F1F"/>
                </a:solidFill>
              </a:rPr>
              <a:t>Local dynamic trigger</a:t>
            </a:r>
            <a:endParaRPr lang="en-US" sz="1750"/>
          </a:p>
          <a:p>
            <a:pPr/>
            <a:r>
              <a:rPr lang="en-US" sz="1450">
                <a:solidFill>
                  <a:srgbClr val="1F1F1F"/>
                </a:solidFill>
              </a:rPr>
              <a:t>run_dynamic_demo.sh</a:t>
            </a:r>
            <a:endParaRPr lang="en-US" sz="1450"/>
          </a:p>
          <a:p>
            <a:pPr/>
            <a:r>
              <a:rPr lang="en-US" sz="1450">
                <a:solidFill>
                  <a:srgbClr val="1F1F1F"/>
                </a:solidFill>
              </a:rPr>
              <a:t>Choose topology, dependency, offline case, ECU state, and transport.</a:t>
            </a:r>
            <a:endParaRPr lang="en-US" sz="1450"/>
          </a:p>
          <a:p>
            <a:pPr/>
            <a:r>
              <a:rPr lang="en-US" sz="1450">
                <a:solidFill>
                  <a:srgbClr val="1F1F1F"/>
                </a:solidFill>
              </a:rPr>
              <a:t>Backend job is then published over MQTT and artifacts are downloaded over HTTPS.</a:t>
            </a:r>
            <a:endParaRPr lang="en-US" sz="1450"/>
          </a:p>
          <a:p>
            <a:pPr/>
            <a:r>
              <a:rPr lang="en-US" sz="1450">
                <a:solidFill>
                  <a:srgbClr val="1F1F1F"/>
                </a:solidFill>
              </a:rPr>
              <a:t>This is the cleanest live operator path for local presentation.</a:t>
            </a:r>
            <a:endParaRPr lang="en-US" sz="1450"/>
          </a:p>
        </p:txBody>
      </p:sp>
      <p:sp>
        <p:nvSpPr>
          <p:cNvPr id="5" name="MenderTrigger"/>
          <p:cNvSpPr txBox="1"/>
          <p:nvPr/>
        </p:nvSpPr>
        <p:spPr>
          <a:xfrm>
            <a:off x="5669280" y="1234440"/>
            <a:ext cx="4663440" cy="448056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4ADE80"/>
            </a:solidFill>
          </a:ln>
        </p:spPr>
        <p:txBody>
          <a:bodyPr wrap="square" lIns="91440" tIns="45720" rIns="91440" bIns="45720" anchor="t"/>
          <a:lstStyle/>
          <a:p>
            <a:pPr/>
            <a:r>
              <a:rPr lang="en-US" sz="1750" b="1">
                <a:solidFill>
                  <a:srgbClr val="1F1F1F"/>
                </a:solidFill>
              </a:rPr>
              <a:t>Mender trigger</a:t>
            </a:r>
            <a:endParaRPr lang="en-US" sz="1750"/>
          </a:p>
          <a:p>
            <a:pPr/>
            <a:r>
              <a:rPr lang="en-US" sz="1450">
                <a:solidFill>
                  <a:srgbClr val="1F1F1F"/>
                </a:solidFill>
              </a:rPr>
              <a:t>run_dynamic_mender_demo.sh</a:t>
            </a:r>
            <a:endParaRPr lang="en-US" sz="1450"/>
          </a:p>
          <a:p>
            <a:pPr/>
            <a:r>
              <a:rPr lang="en-US" sz="1450">
                <a:solidFill>
                  <a:srgbClr val="1F1F1F"/>
                </a:solidFill>
              </a:rPr>
              <a:t>Build scenario-specific .mender artifact from selected runtime scenario.</a:t>
            </a:r>
            <a:endParaRPr lang="en-US" sz="1450"/>
          </a:p>
          <a:p>
            <a:pPr/>
            <a:r>
              <a:rPr lang="en-US" sz="1450">
                <a:solidFill>
                  <a:srgbClr val="1F1F1F"/>
                </a:solidFill>
              </a:rPr>
              <a:t>Hosted Mender deploys to TCU host.</a:t>
            </a:r>
            <a:endParaRPr lang="en-US" sz="1450"/>
          </a:p>
          <a:p>
            <a:pPr/>
            <a:r>
              <a:rPr lang="en-US" sz="1450">
                <a:solidFill>
                  <a:srgbClr val="1F1F1F"/>
                </a:solidFill>
              </a:rPr>
              <a:t>Mender client invokes tcu-ota-module -&gt; TCU OTA orchestration starts.</a:t>
            </a:r>
            <a:endParaRPr lang="en-US" sz="14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1F2937"/>
      </a:dk2>
      <a:lt2>
        <a:srgbClr val="F8FAFC"/>
      </a:lt2>
      <a:accent1>
        <a:srgbClr val="2563EB"/>
      </a:accent1>
      <a:accent2>
        <a:srgbClr val="7C3AED"/>
      </a:accent2>
      <a:accent3>
        <a:srgbClr val="16A34A"/>
      </a:accent3>
      <a:accent4>
        <a:srgbClr val="EA580C"/>
      </a:accent4>
      <a:accent5>
        <a:srgbClr val="DB2777"/>
      </a:accent5>
      <a:accent6>
        <a:srgbClr val="0891B2"/>
      </a:accent6>
      <a:hlink>
        <a:srgbClr val="2563EB"/>
      </a:hlink>
      <a:folHlink>
        <a:srgbClr val="7C3AED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lt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OpenAI Codex</Application>
  <Slides>9</Slides>
  <Notes>0</Notes>
  <HiddenSlides>0</HiddenSlides>
  <MMClips>0</MMClips>
  <PresentationFormat>Custom</PresentationFormat>
  <Company>OpenAI</Company>
  <SharedDoc>false</SharedDoc>
  <LinksUpToDate>false</LinksUpToDate>
  <ScaleCrop>false</ScaleCrop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Virtual Automotive OTA Demo Slides</dc:title>
  <dc:creator>OpenAI Codex</dc:creator>
  <cp:lastModifiedBy>OpenAI Codex</cp:lastModifiedBy>
  <dcterms:created xsi:type="dcterms:W3CDTF">2026-07-25T03:43:17+00:00</dcterms:created>
  <dcterms:modified xsi:type="dcterms:W3CDTF">2026-07-25T03:43:17+00:00</dcterms:modified>
</cp:coreProperties>
</file>